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e00cff6ea14f66" /><Relationship Type="http://schemas.openxmlformats.org/officeDocument/2006/relationships/extended-properties" Target="/docProps/app.xml" Id="R630e463c1fa14630" /><Relationship Type="http://schemas.openxmlformats.org/officeDocument/2006/relationships/officeDocument" Target="/ppt/presentation.xml" Id="R897f8a72bb244b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a244430fad4c73"/>
  </p:sldMasterIdLst>
  <p:notesMasterIdLst>
    <p:notesMasterId xmlns:r="http://schemas.openxmlformats.org/officeDocument/2006/relationships" r:id="Rba38a2a91a6d4e86"/>
  </p:notesMasterIdLst>
  <p:sldIdLst>
    <p:sldId xmlns:r="http://schemas.openxmlformats.org/officeDocument/2006/relationships" id="256" r:id="Re811a6d751eb4c9f"/>
    <p:sldId xmlns:r="http://schemas.openxmlformats.org/officeDocument/2006/relationships" id="257" r:id="R00bdb02acc1c4e9a"/>
    <p:sldId xmlns:r="http://schemas.openxmlformats.org/officeDocument/2006/relationships" id="258" r:id="Rb79aad586dfc4eb7"/>
    <p:sldId xmlns:r="http://schemas.openxmlformats.org/officeDocument/2006/relationships" id="259" r:id="R43b2f88b5364452f"/>
    <p:sldId xmlns:r="http://schemas.openxmlformats.org/officeDocument/2006/relationships" id="260" r:id="Refc846c6ece5480d"/>
    <p:sldId xmlns:r="http://schemas.openxmlformats.org/officeDocument/2006/relationships" id="261" r:id="R48764af3bc464d1f"/>
    <p:sldId xmlns:r="http://schemas.openxmlformats.org/officeDocument/2006/relationships" id="262" r:id="Raee10558b7b84006"/>
    <p:sldId xmlns:r="http://schemas.openxmlformats.org/officeDocument/2006/relationships" id="263" r:id="R82b464f9db88432a"/>
    <p:sldId xmlns:r="http://schemas.openxmlformats.org/officeDocument/2006/relationships" id="264" r:id="R878b8c51862146e9"/>
    <p:sldId xmlns:r="http://schemas.openxmlformats.org/officeDocument/2006/relationships" id="265" r:id="Ra64a9049012a44d0"/>
    <p:sldId xmlns:r="http://schemas.openxmlformats.org/officeDocument/2006/relationships" id="266" r:id="R55457eb029a54183"/>
    <p:sldId xmlns:r="http://schemas.openxmlformats.org/officeDocument/2006/relationships" id="267" r:id="R6c81ba32d19d496f"/>
    <p:sldId xmlns:r="http://schemas.openxmlformats.org/officeDocument/2006/relationships" id="268" r:id="Rd5aeafaef26d4fd0"/>
    <p:sldId xmlns:r="http://schemas.openxmlformats.org/officeDocument/2006/relationships" id="269" r:id="R769f21c7b44749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6d26d6c3004a20" /><Relationship Type="http://schemas.openxmlformats.org/officeDocument/2006/relationships/slideMaster" Target="/ppt/slideMasters/slideMaster1.xml" Id="Ra1a244430fad4c73" /><Relationship Type="http://schemas.openxmlformats.org/officeDocument/2006/relationships/notesMaster" Target="/ppt/notesMasters/notesMaster1.xml" Id="Rba38a2a91a6d4e86" /><Relationship Type="http://schemas.openxmlformats.org/officeDocument/2006/relationships/presProps" Target="/ppt/presProps.xml" Id="R8b7ae96e36c74fcd" /><Relationship Type="http://schemas.openxmlformats.org/officeDocument/2006/relationships/tableStyles" Target="/ppt/tableStyles.xml" Id="Rc6d927decdd14eae" /><Relationship Type="http://schemas.openxmlformats.org/officeDocument/2006/relationships/slide" Target="/ppt/slides/slide1.xml" Id="Re811a6d751eb4c9f" /><Relationship Type="http://schemas.openxmlformats.org/officeDocument/2006/relationships/slide" Target="/ppt/slides/slide2.xml" Id="R00bdb02acc1c4e9a" /><Relationship Type="http://schemas.openxmlformats.org/officeDocument/2006/relationships/slide" Target="/ppt/slides/slide3.xml" Id="Rb79aad586dfc4eb7" /><Relationship Type="http://schemas.openxmlformats.org/officeDocument/2006/relationships/slide" Target="/ppt/slides/slide4.xml" Id="R43b2f88b5364452f" /><Relationship Type="http://schemas.openxmlformats.org/officeDocument/2006/relationships/slide" Target="/ppt/slides/slide5.xml" Id="Refc846c6ece5480d" /><Relationship Type="http://schemas.openxmlformats.org/officeDocument/2006/relationships/slide" Target="/ppt/slides/slide6.xml" Id="R48764af3bc464d1f" /><Relationship Type="http://schemas.openxmlformats.org/officeDocument/2006/relationships/slide" Target="/ppt/slides/slide7.xml" Id="Raee10558b7b84006" /><Relationship Type="http://schemas.openxmlformats.org/officeDocument/2006/relationships/slide" Target="/ppt/slides/slide8.xml" Id="R82b464f9db88432a" /><Relationship Type="http://schemas.openxmlformats.org/officeDocument/2006/relationships/slide" Target="/ppt/slides/slide9.xml" Id="R878b8c51862146e9" /><Relationship Type="http://schemas.openxmlformats.org/officeDocument/2006/relationships/slide" Target="/ppt/slides/slide10.xml" Id="Ra64a9049012a44d0" /><Relationship Type="http://schemas.openxmlformats.org/officeDocument/2006/relationships/slide" Target="/ppt/slides/slide11.xml" Id="R55457eb029a54183" /><Relationship Type="http://schemas.openxmlformats.org/officeDocument/2006/relationships/slide" Target="/ppt/slides/slide12.xml" Id="R6c81ba32d19d496f" /><Relationship Type="http://schemas.openxmlformats.org/officeDocument/2006/relationships/slide" Target="/ppt/slides/slide13.xml" Id="Rd5aeafaef26d4fd0" /><Relationship Type="http://schemas.openxmlformats.org/officeDocument/2006/relationships/slide" Target="/ppt/slides/slide14.xml" Id="R769f21c7b44749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280983e6d14e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3758f8bd55411c" /><Relationship Type="http://schemas.openxmlformats.org/officeDocument/2006/relationships/notesMaster" Target="/ppt/notesMasters/notesMaster1.xml" Id="R30ac13eca77c4d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a397e7fe304aa0" /><Relationship Type="http://schemas.openxmlformats.org/officeDocument/2006/relationships/notesMaster" Target="/ppt/notesMasters/notesMaster1.xml" Id="Rb848f294e9814f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5a10634473479b" /><Relationship Type="http://schemas.openxmlformats.org/officeDocument/2006/relationships/notesMaster" Target="/ppt/notesMasters/notesMaster1.xml" Id="Rf666e6823b0b47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d27e03eef54f9e" /><Relationship Type="http://schemas.openxmlformats.org/officeDocument/2006/relationships/notesMaster" Target="/ppt/notesMasters/notesMaster1.xml" Id="R334be9fb436243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e3b43f51a14092" /><Relationship Type="http://schemas.openxmlformats.org/officeDocument/2006/relationships/notesMaster" Target="/ppt/notesMasters/notesMaster1.xml" Id="Rdea0157736d340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ae191d1291471c" /><Relationship Type="http://schemas.openxmlformats.org/officeDocument/2006/relationships/notesMaster" Target="/ppt/notesMasters/notesMaster1.xml" Id="R9e0b5323709442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c2c6d717404bce" /><Relationship Type="http://schemas.openxmlformats.org/officeDocument/2006/relationships/notesMaster" Target="/ppt/notesMasters/notesMaster1.xml" Id="Rc487cfa89b5948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a522c94e1c4018" /><Relationship Type="http://schemas.openxmlformats.org/officeDocument/2006/relationships/notesMaster" Target="/ppt/notesMasters/notesMaster1.xml" Id="R259280f4326f44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f8779bf09a4e37" /><Relationship Type="http://schemas.openxmlformats.org/officeDocument/2006/relationships/notesMaster" Target="/ppt/notesMasters/notesMaster1.xml" Id="Rd96cd3d8c0974a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bcc6dc18e943c2" /><Relationship Type="http://schemas.openxmlformats.org/officeDocument/2006/relationships/notesMaster" Target="/ppt/notesMasters/notesMaster1.xml" Id="Re8c6de23852744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13a61a84ff4535" /><Relationship Type="http://schemas.openxmlformats.org/officeDocument/2006/relationships/notesMaster" Target="/ppt/notesMasters/notesMaster1.xml" Id="Rd950c746335a4c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2feb042986443c" /><Relationship Type="http://schemas.openxmlformats.org/officeDocument/2006/relationships/notesMaster" Target="/ppt/notesMasters/notesMaster1.xml" Id="R778a14e4fc1448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9ade2f70504093" /><Relationship Type="http://schemas.openxmlformats.org/officeDocument/2006/relationships/notesMaster" Target="/ppt/notesMasters/notesMaster1.xml" Id="Rd3dfb22d830c4b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55bd5ce2f94bf5" /><Relationship Type="http://schemas.openxmlformats.org/officeDocument/2006/relationships/notesMaster" Target="/ppt/notesMasters/notesMaster1.xml" Id="R6630508db37f42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submission, 6 September 2026. All counts are drawn from docs/submission-metrics.json. No legal advice, certification or public launch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docs/PROJECT_REPORT.md; corpus/inventory.json;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docs/PROJECT_REPORT.md; corpus/inventory.json;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docs/PROJECT_REPORT.md; corpus/inventory.json;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docs/PROJECT_REPORT.md; corpus/inventory.json;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docs/PROJECT_REPORT.md; corpus/inventory.json;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docs/PROJECT_REPORT.md; corpus/inventory.json;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docs/PROJECT_REPORT.md; corpus/inventory.json;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docs/PROJECT_REPORT.md; corpus/inventory.json;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docs/PROJECT_REPORT.md; corpus/inventory.json;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docs/PROJECT_REPORT.md; corpus/inventory.json;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results: evals/results/latest.json and docs/test-results.xml. Scores include vacuous citation-mechanics passes for abstentions. Four adversarial scenarios per language are not a comprehensive safety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docs/PROJECT_REPORT.md; corpus/inventory.json;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docs/PROJECT_REPORT.md; corpus/inventory.json;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2445dd75946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c1836d629e4991" /><Relationship Type="http://schemas.openxmlformats.org/officeDocument/2006/relationships/slideLayout" Target="/ppt/slideLayouts/slideLayout1.xml" Id="R086d4469541d42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6d4469541d42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e53e4b2a94349" /><Relationship Type="http://schemas.openxmlformats.org/officeDocument/2006/relationships/notesSlide" Target="/ppt/notesSlides/notesSlide1.xml" Id="Refcece88e10043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da6f7f2704b33" /><Relationship Type="http://schemas.openxmlformats.org/officeDocument/2006/relationships/notesSlide" Target="/ppt/notesSlides/notesSlide2.xml" Id="Re6dc3629702a4d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9476e364b4972" /><Relationship Type="http://schemas.openxmlformats.org/officeDocument/2006/relationships/notesSlide" Target="/ppt/notesSlides/notesSlide3.xml" Id="Rab420afd316042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1eeb6660c465f" /><Relationship Type="http://schemas.openxmlformats.org/officeDocument/2006/relationships/notesSlide" Target="/ppt/notesSlides/notesSlide4.xml" Id="Rabbb0be2a44f4d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18112b25f4859" /><Relationship Type="http://schemas.openxmlformats.org/officeDocument/2006/relationships/notesSlide" Target="/ppt/notesSlides/notesSlide5.xml" Id="Rcdb22595610a4e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9fd8352cf4b83" /><Relationship Type="http://schemas.openxmlformats.org/officeDocument/2006/relationships/notesSlide" Target="/ppt/notesSlides/notesSlide6.xml" Id="R68c5123327c04f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f5fd720d84cef" /><Relationship Type="http://schemas.openxmlformats.org/officeDocument/2006/relationships/notesSlide" Target="/ppt/notesSlides/notesSlide7.xml" Id="Rb138bb382a1647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696f48856464e" /><Relationship Type="http://schemas.openxmlformats.org/officeDocument/2006/relationships/notesSlide" Target="/ppt/notesSlides/notesSlide8.xml" Id="R5db986a9ce014f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d6de5a15a41ef" /><Relationship Type="http://schemas.openxmlformats.org/officeDocument/2006/relationships/notesSlide" Target="/ppt/notesSlides/notesSlide9.xml" Id="R1b1e0c68050443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17ef7cafc4e3d" /><Relationship Type="http://schemas.openxmlformats.org/officeDocument/2006/relationships/notesSlide" Target="/ppt/notesSlides/notesSlide10.xml" Id="R7ba75dd74a9d44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209fc9e6f4624" /><Relationship Type="http://schemas.openxmlformats.org/officeDocument/2006/relationships/notesSlide" Target="/ppt/notesSlides/notesSlide11.xml" Id="R928d2aa6282d4d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044b700ef4dc8" /><Relationship Type="http://schemas.openxmlformats.org/officeDocument/2006/relationships/notesSlide" Target="/ppt/notesSlides/notesSlide12.xml" Id="R630058bb397645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4a37cea044474" /><Relationship Type="http://schemas.openxmlformats.org/officeDocument/2006/relationships/notesSlide" Target="/ppt/notesSlides/notesSlide13.xml" Id="Rd2a2973eda1646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bdcfc7aea4906" /><Relationship Type="http://schemas.openxmlformats.org/officeDocument/2006/relationships/notesSlide" Target="/ppt/notesSlides/notesSlide14.xml" Id="R22ddbeeee1544d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43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2C420-2E2D-45A5-801C-08D0D7EA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6F4ED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F6F4ED"/>
                </a:solidFill>
                <a:latin typeface="Segoe UI"/>
                <a:ea typeface="Segoe UI"/>
                <a:cs typeface="Segoe UI"/>
              </a:rPr>
              <a:t>IP-SAKTI</a:t>
            </a:r>
          </a:p>
          <a:p xmlns:a="http://schemas.openxmlformats.org/drawingml/2006/main">
            <a:pPr>
              <a:defRPr sz="4800" b="1">
                <a:solidFill>
                  <a:srgbClr val="F6F4ED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F6F4ED"/>
                </a:solidFill>
                <a:latin typeface="Segoe UI"/>
                <a:ea typeface="Segoe UI"/>
                <a:cs typeface="Segoe UI"/>
              </a:rPr>
              <a:t>Sahayak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7CF6E-6722-4818-8803-33AE94EC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07B75-50B1-4E29-BB93-375559B7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F6F4ED"/>
                </a:solidFill>
                <a:latin typeface="Segoe UI"/>
                <a:ea typeface="Segoe UI"/>
                <a:cs typeface="Segoe UI"/>
              </a:defRPr>
            </a:pPr>
            <a:r>
              <a:rPr sz="3000" b="0">
                <a:solidFill>
                  <a:srgbClr val="F6F4ED"/>
                </a:solidFill>
                <a:latin typeface="Segoe UI"/>
                <a:ea typeface="Segoe UI"/>
                <a:cs typeface="Segoe UI"/>
              </a:rPr>
              <a:t>Ayurveda innovation,</a:t>
            </a:r>
          </a:p>
          <a:p xmlns:a="http://schemas.openxmlformats.org/drawingml/2006/main">
            <a:pPr>
              <a:defRPr sz="3000" b="0">
                <a:solidFill>
                  <a:srgbClr val="F6F4ED"/>
                </a:solidFill>
                <a:latin typeface="Segoe UI"/>
                <a:ea typeface="Segoe UI"/>
                <a:cs typeface="Segoe UI"/>
              </a:defRPr>
            </a:pPr>
            <a:r>
              <a:rPr sz="3000" b="0">
                <a:solidFill>
                  <a:srgbClr val="F6F4ED"/>
                </a:solidFill>
                <a:latin typeface="Segoe UI"/>
                <a:ea typeface="Segoe UI"/>
                <a:cs typeface="Segoe UI"/>
              </a:rPr>
              <a:t>grounded in inspectable 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9E34B-45DA-40AC-B69B-40777CCB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9E4D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D9E4D6"/>
                </a:solidFill>
                <a:latin typeface="Segoe UI"/>
                <a:ea typeface="Segoe UI"/>
                <a:cs typeface="Segoe UI"/>
              </a:rPr>
              <a:t>Deployable multilingual pilot · India + international regimes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D17D7-670E-4A9B-8BC3-EE7B1BBB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BA7D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E5BA7D"/>
                </a:solidFill>
                <a:latin typeface="Segoe UI"/>
                <a:ea typeface="Segoe UI"/>
                <a:cs typeface="Segoe UI"/>
              </a:rPr>
              <a:t>60 registered sources    /    3 interface languages    /    381 evaluation executions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AFB36-4DEC-49A6-9D8E-A06847D5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9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E4D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9E4D6"/>
                </a:solidFill>
                <a:latin typeface="Segoe UI"/>
                <a:ea typeface="Segoe UI"/>
                <a:cs typeface="Segoe UI"/>
              </a:rPr>
              <a:t>Information, not legal advice. Expert legal and language review remain release gates.</a:t>
            </a:r>
          </a:p>
        </p:txBody>
      </p:sp>
    </p:spTree>
    <p:extLst>
      <p:ext uri="{BB962C8B-B14F-4D97-AF65-F5344CB8AC3E}">
        <p14:creationId xmlns:p14="http://schemas.microsoft.com/office/powerpoint/2010/main" val="1585830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BE27A-F3B0-4D7F-9C5F-32AEABCF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One formulation raises three connected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73939-7249-462B-B6AA-C63F942E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9D719-F81E-4F58-8C51-EC6094BF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What is the product?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9BFEC-E35F-44D2-9DF0-88D0A4B9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3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32C"/>
                </a:solidFill>
                <a:latin typeface="Segoe UI"/>
                <a:ea typeface="Segoe UI"/>
                <a:cs typeface="Segoe UI"/>
              </a:rPr>
              <a:t>Medicine, food, phytopharmaceutical or cosmetic: classification determines which regulatory route to investigate.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92E9C-5B65-4317-B59A-32D3C90C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What can be protected?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C4D93-54EF-44E9-9239-4F2DA91F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90875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3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32C"/>
                </a:solidFill>
                <a:latin typeface="Segoe UI"/>
                <a:ea typeface="Segoe UI"/>
                <a:cs typeface="Segoe UI"/>
              </a:rPr>
              <a:t>Patents, brands, designs, geographical indications, copyright, trade secrets and plant varieties need distinct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53645-7783-4F75-B77D-FA84B32E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How was it accessed?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3DD37-3771-4D64-9714-82C0390F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720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3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32C"/>
                </a:solidFill>
                <a:latin typeface="Segoe UI"/>
                <a:ea typeface="Segoe UI"/>
                <a:cs typeface="Segoe UI"/>
              </a:rPr>
              <a:t>Biological resources and associated traditional knowledge create a separate ABS assessment.</a:t>
            </a:r>
          </a:p>
        </p:txBody>
      </p:sp>
    </p:spTree>
    <p:extLst>
      <p:ext uri="{BB962C8B-B14F-4D97-AF65-F5344CB8AC3E}">
        <p14:creationId xmlns:p14="http://schemas.microsoft.com/office/powerpoint/2010/main" val="1019486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2E650-3938-4AAB-933A-1E09C435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The working assistant starts with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14C63-5B3F-41C1-A429-CADC940D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601BF-B428-4FFB-A5D1-75EC1EC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339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A3AB2-EFEF-4B35-9CC8-3A2AE511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90750"/>
            <a:ext cx="3092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India or international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3D51B-64AF-40EC-A3D0-8D92E19E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375" y="2238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94E7E-93CF-427A-B5D0-B872DDD8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375" y="1952625"/>
            <a:ext cx="339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FDC6A-0428-41B0-BF1E-8F028FA4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775" y="2190750"/>
            <a:ext cx="3092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Treaties / US / EU / UK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AE564-6A9D-4EA8-B584-42A88073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2238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629C4-1781-45FF-973C-AEE42FB5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625" y="1952625"/>
            <a:ext cx="339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57D91-3420-43AC-A1E0-F8D3CF93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025" y="2190750"/>
            <a:ext cx="3092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English / Hindi / Marathi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04B8E-7E5E-4A10-926B-8E47E0B3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Ask a question → inspect citations → save a case → request selected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0168E-0223-4D14-A078-48649019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32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332C"/>
                </a:solidFill>
                <a:latin typeface="Segoe UI"/>
                <a:ea typeface="Segoe UI"/>
                <a:cs typeface="Segoe UI"/>
              </a:rPr>
              <a:t>Each jurisdiction has a separate answer history. Source excerpts remain labelled when generation or translation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1971510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7E46B-7305-4D09-905E-071C5A6C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Source acquisition is separate from legal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0271C-B891-40AA-AD18-6924AE0F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19125" y="1619250"/>
          <a:ext xmlns:a="http://schemas.openxmlformats.org/drawingml/2006/main" cx="1095375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6096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Evidence layer</a:t>
                      </a:r>
                    </a:p>
                  </a:txBody>
                  <a:tcPr marL="91440" marR="91440" marT="45720" marB="45720">
                    <a:solidFill>
                      <a:srgbClr val="2343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Observed state</a:t>
                      </a:r>
                    </a:p>
                  </a:txBody>
                  <a:tcPr marL="91440" marR="91440" marT="45720" marB="45720">
                    <a:solidFill>
                      <a:srgbClr val="23433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Supplied originals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18 PDFs preserved and checksummed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Registered source candidates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Acquired source versions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Active reference chunks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9236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Approved current-law versions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0 — qualified review pending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730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18169-80CB-49B6-8D54-FD601F00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A citation has a reproducible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4E8BC-229F-4934-AC26-797DE700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4ED52-0583-4318-BC3D-ED228F5D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ECFB4-4454-4814-8805-0B29A53D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3362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Official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BE507-FBE1-41E6-927A-0CC70245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2381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61A7C-9FE4-472B-A48C-5F714BD7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09550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7063F-E539-4B02-A562-F3154EEF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33362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SHA-256 snapshot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2C6D5-486D-4A62-843A-EC97C8D6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D660E-B018-4CEC-9605-6941606B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B81F0-C4B3-48A0-B2B5-947CE5D9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3362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Page / section chunk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214FB-E563-48E4-B224-C3B35CA6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2381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03247-B1CB-4835-B24B-8B145B1B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209550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3A311-7A82-4596-9E46-BF3C44F7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88" y="233362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Returned citation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84227-3A4C-4AFD-B5D1-2478617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Publisher • URL • retrieval date • effective date • authority class • review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6FD64-EDDA-43BF-A408-F4F6987A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32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332C"/>
                </a:solidFill>
                <a:latin typeface="Segoe UI"/>
                <a:ea typeface="Segoe UI"/>
                <a:cs typeface="Segoe UI"/>
              </a:rPr>
              <a:t>Drafts, forms, notices and statistics remain distinct. Unretrieved or empty documents cannot support an answer.</a:t>
            </a:r>
          </a:p>
        </p:txBody>
      </p:sp>
    </p:spTree>
    <p:extLst>
      <p:ext uri="{BB962C8B-B14F-4D97-AF65-F5344CB8AC3E}">
        <p14:creationId xmlns:p14="http://schemas.microsoft.com/office/powerpoint/2010/main" val="2955810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6DF289-079F-404D-9820-DDE4FCCF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Bounded retrieval and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0AB57-1112-4874-9911-8FAEC521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8042B-6F82-4906-828F-57E2F8D7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922D4-3D76-45E3-82E1-3A89D426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8597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Scope + privacy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77E22-2618-4514-B8E2-D5478EB0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2133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73E10-06F1-493A-A3BD-82BAE77F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184785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578E5-4917-45C3-88D2-289C4E35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08597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Hybrid 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81636-7505-4C0B-939F-105D2CAA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10A49-0863-4514-9BF6-068762B4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3E4FC-AA0D-4049-938F-AD5C830D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8597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Evidence 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B0214-8DB7-4768-8382-56028121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2133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7002C-D737-431E-83A7-EA1F4309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84785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52D1C-B54D-4FEF-BD19-CCC3268E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88" y="208597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Draft / excerpts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68993-46BD-4E08-A99D-EFAAC215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0A70A-4D11-4845-9426-5BBABA0C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3857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Citation IDs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B9A90-E530-4DEC-A7BF-10B0CF76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3886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42835-008A-48A5-99BF-AB1DF404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60045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AACE8-46FF-4165-8772-C576C5FE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83857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Exact support quote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B68C0-1716-41D0-9F2E-E27CC3C7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3CF80-1D18-40BD-9C84-D9C58B54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585AF-E354-448D-A72D-608C4882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3857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Entailment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0CEE72-3CF7-423A-9B94-D5D2F976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3886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CD727-E827-4317-904A-2F9B52B3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60045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9AE240-5509-4D49-B49F-751D532F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88" y="383857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Release or abstain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2519B7-5F29-4B36-A9EF-8C821002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No unrestricted model tools. No invented URLs. An automated judge is still subject to expert evaluation.</a:t>
            </a:r>
          </a:p>
        </p:txBody>
      </p:sp>
    </p:spTree>
    <p:extLst>
      <p:ext uri="{BB962C8B-B14F-4D97-AF65-F5344CB8AC3E}">
        <p14:creationId xmlns:p14="http://schemas.microsoft.com/office/powerpoint/2010/main" val="14270845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52D73-246D-425E-852F-6729C7BC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Classification stays provisional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68628-9E26-4E27-9D3B-84A5028F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109537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6096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Product facts</a:t>
                      </a:r>
                    </a:p>
                  </a:txBody>
                  <a:tcPr marL="91440" marR="91440" marT="45720" marB="45720">
                    <a:solidFill>
                      <a:srgbClr val="2343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Route to investigate</a:t>
                      </a:r>
                    </a:p>
                  </a:txBody>
                  <a:tcPr marL="91440" marR="91440" marT="45720" marB="45720">
                    <a:solidFill>
                      <a:srgbClr val="23433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Authoritative text + unchanged method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Classical ASU medicine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Qualifying ingredients; modified formulation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Patent-or-proprietary ASU medicine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Other / standardized fraction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New-drug or phytopharmaceutical assessment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Food intent / appearance claims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Ayurveda-Aahara, food or cosmetic route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83744-B8E0-4834-950D-BCE0D815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A regulatory category is neither a patent grant nor a patentability opinion. Ambiguous facts trigger clarification.</a:t>
            </a:r>
          </a:p>
        </p:txBody>
      </p:sp>
    </p:spTree>
    <p:extLst>
      <p:ext uri="{BB962C8B-B14F-4D97-AF65-F5344CB8AC3E}">
        <p14:creationId xmlns:p14="http://schemas.microsoft.com/office/powerpoint/2010/main" val="69905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A970E-69EB-4401-BF5B-9FC18770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ABS and prior art are separate workspaces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4258C-80E7-4A43-A7D8-3ABACF98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F417F-E208-4734-8EC3-AB8BC167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ABS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50789-C5D0-41C5-8DB0-F22129AA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907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3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32C"/>
                </a:solidFill>
                <a:latin typeface="Segoe UI"/>
                <a:ea typeface="Segoe UI"/>
                <a:cs typeface="Segoe UI"/>
              </a:rPr>
              <a:t>Applicant control, resource origin, purpose, research transfer, IP stage, cultivation and associated TK.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41603-2EB4-4141-8423-D2E3B7FE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Evidence to collect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3762B-E5A9-45A0-83B0-31E14801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3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32C"/>
                </a:solidFill>
                <a:latin typeface="Segoe UI"/>
                <a:ea typeface="Segoe UI"/>
                <a:cs typeface="Segoe UI"/>
              </a:rPr>
              <a:t>Procurement and origin records, relevant state, access dates, documentary conditions and unresolved exemptions.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C10E5-C667-4F41-A553-9095C455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Lawful navigation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E0322-E378-4F28-B22B-E845ECFC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958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3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32C"/>
                </a:solidFill>
                <a:latin typeface="Segoe UI"/>
                <a:ea typeface="Segoe UI"/>
                <a:cs typeface="Segoe UI"/>
              </a:rPr>
              <a:t>Botanical/common-name search terms, official registry links and TKDL access pointers. No paywall or CAPTCHA bypass.</a:t>
            </a:r>
          </a:p>
        </p:txBody>
      </p:sp>
    </p:spTree>
    <p:extLst>
      <p:ext uri="{BB962C8B-B14F-4D97-AF65-F5344CB8AC3E}">
        <p14:creationId xmlns:p14="http://schemas.microsoft.com/office/powerpoint/2010/main" val="4833207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D07BE-6D8D-419D-A3B7-D9C455FF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Private cases stay behind explicit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39DF2-B3FD-422A-A574-7B19C360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006C1-94DB-4AD1-941C-3A56BECD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2FD12-00FF-470E-92AB-9CE691AD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5742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Signed-in owner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92FDB-F10E-45B4-856F-782E129F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2305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B2A29-B88E-450E-9CAB-6EB9897B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01930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2AFE4-7DBD-4623-A5AB-DAF6E8E2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25742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Private case / files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071A7-59D3-4869-B7F1-8FCBD3DA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05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4B6C3-2492-4AD8-9AC8-11275B24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02C28-9B8D-4F37-82EC-42AAEB3D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5742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Selected submission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A3BC4-26FA-48F5-90BB-1DF217A1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2305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5CF47-48EA-4DD6-BED6-DCB2D87F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201930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E4CC8-FA06-4A27-8117-A3BBC3E6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88" y="225742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Facilitator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50B95-7633-4C2C-B12B-D29D0711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Free hosted generation: general questions + public sources + explicit opt-in.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6EF50-E0BB-46AE-97A3-81919D72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32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5332C"/>
                </a:solidFill>
                <a:latin typeface="Segoe UI"/>
                <a:ea typeface="Segoe UI"/>
                <a:cs typeface="Segoe UI"/>
              </a:rPr>
              <a:t>Private context: local inference only. Reviewers receive the content selected for submission. Consent can be inspected and revoked.</a:t>
            </a:r>
          </a:p>
        </p:txBody>
      </p:sp>
    </p:spTree>
    <p:extLst>
      <p:ext uri="{BB962C8B-B14F-4D97-AF65-F5344CB8AC3E}">
        <p14:creationId xmlns:p14="http://schemas.microsoft.com/office/powerpoint/2010/main" val="21013708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7EC45-2328-43DF-AD6B-D2CB9D56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Multilingual and voice availability is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FA227-316B-438B-BDE4-0609849B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6096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Experience</a:t>
                      </a:r>
                    </a:p>
                  </a:txBody>
                  <a:tcPr marL="91440" marR="91440" marT="45720" marB="45720">
                    <a:solidFill>
                      <a:srgbClr val="2343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Implemented boundary</a:t>
                      </a:r>
                    </a:p>
                  </a:txBody>
                  <a:tcPr marL="91440" marR="91440" marT="45720" marB="45720">
                    <a:solidFill>
                      <a:srgbClr val="23433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English / Hindi / Marathi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Interface and guided questions; original legal excerpts retained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Translation / speech recognition / speech synthesis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Configurable Bhashini adapter; credentials required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Voice questions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User reviews the transcript before submitting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Translation verification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Numeric/reference checks; expert meaning review pending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4E912-AD8B-4140-B428-F519C675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No prerecorded or sample output is represented as a live provider response.</a:t>
            </a:r>
          </a:p>
        </p:txBody>
      </p:sp>
    </p:spTree>
    <p:extLst>
      <p:ext uri="{BB962C8B-B14F-4D97-AF65-F5344CB8AC3E}">
        <p14:creationId xmlns:p14="http://schemas.microsoft.com/office/powerpoint/2010/main" val="12249690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91662-7135-498D-AD21-E0589888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Docker deployment and recovery were exercised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59AB4-C7E8-4706-97D9-C3AC5D6A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6B084-FCEC-4A5D-BA22-76ECC81A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BCBF5-956C-4440-9819-0DE4ADDB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4787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Nginx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103C9-1F66-4D4B-9848-6FD9CE9F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2095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7E110-A9C7-4417-8D23-AC492361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180975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BC506-2DB1-4058-AF28-FAF58B59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04787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FastAPI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6E191-299E-4022-9714-FB7D7A51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31074-8C2F-4753-8A1C-0EA8C39F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F4AE8-E050-4DB9-8897-1EC59141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4787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PostgreSQL + pgvector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9C11D-DE45-46D1-B547-C6C2FCDC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2095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793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7793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CF9B5-7688-4DAA-8C75-3958A67F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809750"/>
            <a:ext cx="24526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C9292-DAA1-4903-BC40-6801AAFF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88" y="2047875"/>
            <a:ext cx="21478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Persistent volumes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3026E-7549-41A4-9293-10BCCE97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Separate migration and worker containers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79A2F-54D0-4DAC-B02F-AC644F4A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32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5332C"/>
                </a:solidFill>
                <a:latin typeface="Segoe UI"/>
                <a:ea typeface="Segoe UI"/>
                <a:cs typeface="Segoe UI"/>
              </a:rPr>
              <a:t>Rehearsal: passed. 42 archived source files verified; database restored into an isolated test database.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3D3D3-6102-4F8E-8C67-160A6F16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Production TLS, encrypted storage, scheduled backups and staffing are deployment-owner responsibilities.</a:t>
            </a:r>
          </a:p>
        </p:txBody>
      </p:sp>
    </p:spTree>
    <p:extLst>
      <p:ext uri="{BB962C8B-B14F-4D97-AF65-F5344CB8AC3E}">
        <p14:creationId xmlns:p14="http://schemas.microsoft.com/office/powerpoint/2010/main" val="14373790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1B0FE-9511-4EBE-9E7E-BD4823B1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Measured traceability; legal accuracy is unmeasured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DBA19-E516-4991-A826-5A4BF92C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704975"/>
          <a:ext xmlns:a="http://schemas.openxmlformats.org/drawingml/2006/main" cx="10953750" cy="2438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38438"/>
                <a:gridCol w="2738438"/>
                <a:gridCol w="2738438"/>
                <a:gridCol w="2738438"/>
              </a:tblGrid>
              <a:tr h="6096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Language</a:t>
                      </a:r>
                    </a:p>
                  </a:txBody>
                  <a:tcPr marL="91440" marR="91440" marT="45720" marB="45720">
                    <a:solidFill>
                      <a:srgbClr val="2343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Executions</a:t>
                      </a:r>
                    </a:p>
                  </a:txBody>
                  <a:tcPr marL="91440" marR="91440" marT="45720" marB="45720">
                    <a:solidFill>
                      <a:srgbClr val="2343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Citation resolution</a:t>
                      </a:r>
                    </a:p>
                  </a:txBody>
                  <a:tcPr marL="91440" marR="91440" marT="45720" marB="45720">
                    <a:solidFill>
                      <a:srgbClr val="2343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p50 / p95 ms</a:t>
                      </a:r>
                    </a:p>
                  </a:txBody>
                  <a:tcPr marL="91440" marR="91440" marT="45720" marB="45720">
                    <a:solidFill>
                      <a:srgbClr val="23433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127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377 / 642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HI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127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376 / 635</a:t>
                      </a:r>
                    </a:p>
                  </a:txBody>
                  <a:tcPr marL="91440" marR="91440" marT="45720" marB="45720">
                    <a:solidFill>
                      <a:srgbClr val="F6F4E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MR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127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32C"/>
                          </a:solidFill>
                          <a:latin typeface="Segoe UI"/>
                          <a:ea typeface="Segoe UI"/>
                          <a:cs typeface="Segoe UI"/>
                        </a:rPr>
                        <a:t>382 / 747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24481-4C5D-4F38-8323-C1655988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63 backend tests passed. No qualified legal or language scores are claimed.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B5009-36AF-4FAF-B909-3692973B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These sequential source-only timings do not predict hosted generation or voice latency.</a:t>
            </a:r>
          </a:p>
        </p:txBody>
      </p:sp>
    </p:spTree>
    <p:extLst>
      <p:ext uri="{BB962C8B-B14F-4D97-AF65-F5344CB8AC3E}">
        <p14:creationId xmlns:p14="http://schemas.microsoft.com/office/powerpoint/2010/main" val="9123956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0DBF5-D701-4CC7-8A6F-8EB27DE8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Release gates remain explicit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4B24A-2A4F-4FF0-8EC3-F5C09391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62E25-5B90-4A6B-8416-0C92CE1E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Qualified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371BE-FE5A-4DC3-B5FA-CC77E705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526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3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32C"/>
                </a:solidFill>
                <a:latin typeface="Segoe UI"/>
                <a:ea typeface="Segoe UI"/>
                <a:cs typeface="Segoe UI"/>
              </a:rPr>
              <a:t>Current-law applicability, missing amendments, classification logic, citation relevance and language quality.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40ABA-3B73-4337-B17C-FC77D3AB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Credentials and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A8948-D6E0-49EF-B556-CF4E12F8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242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3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32C"/>
                </a:solidFill>
                <a:latin typeface="Segoe UI"/>
                <a:ea typeface="Segoe UI"/>
                <a:cs typeface="Segoe UI"/>
              </a:rPr>
              <a:t>Gemini/Ollama evaluation, Bhashini service tests and any licensed paid-source connector.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B4027-A440-4608-B0FD-08F4C992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Production 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2EB7F-3D55-4AE6-90B2-0F80DDCF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958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3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32C"/>
                </a:solidFill>
                <a:latin typeface="Segoe UI"/>
                <a:ea typeface="Segoe UI"/>
                <a:cs typeface="Segoe UI"/>
              </a:rPr>
              <a:t>Authentication hardening, privacy/legal assessment, TLS/storage, incident procedures and facilitator staffing.</a:t>
            </a:r>
          </a:p>
        </p:txBody>
      </p:sp>
    </p:spTree>
    <p:extLst>
      <p:ext uri="{BB962C8B-B14F-4D97-AF65-F5344CB8AC3E}">
        <p14:creationId xmlns:p14="http://schemas.microsoft.com/office/powerpoint/2010/main" val="18422285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66A87-5DDF-493B-B954-2417F3AC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A reviewable pilot and a reproducible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B3426-D1B0-4CBD-89A4-5D1392DC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27066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11C83-1CAD-4243-977E-D998D3E0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10668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Source code + migrations + Docker</a:t>
            </a:r>
          </a:p>
          <a:p xmlns:a="http://schemas.openxmlformats.org/drawingml/2006/main">
            <a:pPr>
              <a:defRPr sz="27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Corpus manifest + inventory + coverage</a:t>
            </a:r>
          </a:p>
          <a:p xmlns:a="http://schemas.openxmlformats.org/drawingml/2006/main">
            <a:pPr>
              <a:defRPr sz="27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API contract + tests + evaluation data</a:t>
            </a:r>
          </a:p>
          <a:p xmlns:a="http://schemas.openxmlformats.org/drawingml/2006/main">
            <a:pPr>
              <a:defRPr sz="2700" b="1">
                <a:solidFill>
                  <a:srgbClr val="234335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234335"/>
                </a:solidFill>
                <a:latin typeface="Segoe UI"/>
                <a:ea typeface="Segoe UI"/>
                <a:cs typeface="Segoe UI"/>
              </a:rPr>
              <a:t>Report + guides + diagrams + demo 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E34FF-F5D3-409F-A748-654279FA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10477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32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25332C"/>
                </a:solidFill>
                <a:latin typeface="Segoe UI"/>
                <a:ea typeface="Segoe UI"/>
                <a:cs typeface="Segoe UI"/>
              </a:rPr>
              <a:t>Next: approve the evidence, validate providers, and measure expert-reviewed answer quality before public operation.</a:t>
            </a:r>
          </a:p>
        </p:txBody>
      </p:sp>
    </p:spTree>
    <p:extLst>
      <p:ext uri="{BB962C8B-B14F-4D97-AF65-F5344CB8AC3E}">
        <p14:creationId xmlns:p14="http://schemas.microsoft.com/office/powerpoint/2010/main" val="659452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2026-09-06T15:37:20.2670000Z</dcterms:created>
  <dcterms:modified xsi:type="dcterms:W3CDTF">2026-09-06T15:37:20.2670000Z</dcterms:modified>
</coreProperties>
</file>